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8" r:id="rId3"/>
    <p:sldId id="276" r:id="rId4"/>
    <p:sldId id="277" r:id="rId5"/>
    <p:sldId id="259" r:id="rId6"/>
    <p:sldId id="271" r:id="rId7"/>
    <p:sldId id="272" r:id="rId8"/>
    <p:sldId id="273" r:id="rId9"/>
    <p:sldId id="261" r:id="rId10"/>
    <p:sldId id="262" r:id="rId11"/>
    <p:sldId id="263" r:id="rId12"/>
    <p:sldId id="264" r:id="rId13"/>
    <p:sldId id="274" r:id="rId14"/>
    <p:sldId id="275" r:id="rId15"/>
    <p:sldId id="266" r:id="rId16"/>
    <p:sldId id="267" r:id="rId17"/>
    <p:sldId id="268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300" dt="2026-09-22T03:18:58.382"/>
    <p1510:client id="{1245D890-2F3E-F187-7DE7-C41AB61E7A43}" v="8" dt="2026-09-22T16:48:52.335"/>
    <p1510:client id="{4ED8E1DF-7134-4AE9-0B2A-467E420E26F9}" v="139" dt="2026-09-23T18:32:29.250"/>
    <p1510:client id="{5FB693BE-B7D0-2D82-03AE-50BA85ABCC3D}" v="1183" dt="2026-09-22T02:24:23.032"/>
    <p1510:client id="{AD7B0FDB-C8D2-7568-779F-F40F29592437}" v="947" dt="2026-09-22T15:49:43.921"/>
    <p1510:client id="{B4268B33-492E-502D-F64E-78C216987AF1}" v="960" dt="2026-09-23T16:01:26.435"/>
    <p1510:client id="{D2EF4580-5069-9B05-7892-319DF9F630EA}" v="907" dt="2026-09-22T00:12:06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9/23/2026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99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FigureOut">
              <a:rPr lang="en-US" dirty="0"/>
              <a:t>9/23/2026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975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FigureOut">
              <a:rPr lang="en-US" dirty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33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9/23/2026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20212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2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9/23/2026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343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FigureOut">
              <a:rPr lang="en-US" dirty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3986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705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FigureOut">
              <a:rPr lang="en-US" dirty="0"/>
              <a:t>9/23/2026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1768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FigureOut">
              <a:rPr lang="en-US" dirty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848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FigureOut">
              <a:rPr lang="en-US" dirty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153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FigureOut">
              <a:rPr lang="en-US" dirty="0"/>
              <a:t>9/23/2026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23748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FigureOut">
              <a:rPr lang="en-US" dirty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6995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FigureOut">
              <a:rPr lang="en-US" dirty="0"/>
              <a:t>9/23/2026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037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FigureOut">
              <a:rPr lang="en-US" dirty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010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FigureOut">
              <a:rPr lang="en-US" dirty="0"/>
              <a:t>9/23/2026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781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9/23/2026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93829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9/23/2026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4290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FigureOut">
              <a:rPr lang="en-US" dirty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332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FigureOut">
              <a:rPr lang="en-US" dirty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64141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FigureOut">
              <a:rPr lang="en-US" dirty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Quote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6387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FigureOut">
              <a:rPr lang="en-US" dirty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27093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FigureOut">
              <a:rPr lang="en-US" dirty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16710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FigureOut">
              <a:rPr lang="en-US" dirty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0713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9/23/2026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492948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FigureOut">
              <a:rPr lang="en-US" dirty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83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FigureOut">
              <a:rPr lang="en-US" dirty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935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2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FigureOut">
              <a:rPr lang="en-US" dirty="0"/>
              <a:pPr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4406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  <p:sldLayoutId id="2147483758" r:id="rId21"/>
    <p:sldLayoutId id="2147483759" r:id="rId22"/>
    <p:sldLayoutId id="2147483760" r:id="rId23"/>
    <p:sldLayoutId id="2147483761" r:id="rId24"/>
    <p:sldLayoutId id="2147483762" r:id="rId25"/>
    <p:sldLayoutId id="2147483763" r:id="rId26"/>
    <p:sldLayoutId id="2147483764" r:id="rId27"/>
    <p:sldLayoutId id="2147483765" r:id="rId28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desktop/setup/install/windows-install/" TargetMode="External"/><Relationship Id="rId2" Type="http://schemas.openxmlformats.org/officeDocument/2006/relationships/hyperlink" Target="https://github.com/TU-Software/meeting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docker.com/compose/" TargetMode="External"/><Relationship Id="rId5" Type="http://schemas.openxmlformats.org/officeDocument/2006/relationships/hyperlink" Target="https://docs.docker.com/" TargetMode="External"/><Relationship Id="rId4" Type="http://schemas.openxmlformats.org/officeDocument/2006/relationships/hyperlink" Target="https://docs.docker.com/desktop/setup/install/mac-install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cloud.microsoft/r/MYjbbU020m" TargetMode="External"/><Relationship Id="rId2" Type="http://schemas.openxmlformats.org/officeDocument/2006/relationships/hyperlink" Target="https://discord.gg/FSF2jvtSFg&#8203;" TargetMode="Externa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>
            <a:normAutofit/>
          </a:bodyPr>
          <a:lstStyle/>
          <a:p>
            <a:r>
              <a:rPr lang="en-US"/>
              <a:t>Intro to Containers &amp; Docker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88A23CC-9463-81C7-046C-8766260517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4345" y="1351118"/>
            <a:ext cx="5269346" cy="4155766"/>
          </a:xfrm>
          <a:prstGeom prst="rect">
            <a:avLst/>
          </a:prstGeom>
        </p:spPr>
      </p:pic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F33F7B2E-1A5B-6C67-A49A-10604273F23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B41346B-A569-48A9-A2CE-6066F429F6A5}" type="datetime1">
              <a:rPr lang="en-US" smtClean="0"/>
              <a:pPr>
                <a:spcAft>
                  <a:spcPts val="600"/>
                </a:spcAft>
              </a:pPr>
              <a:t>9/23/2026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F20D2E5E-18CD-1C77-34DB-E935A1E6E0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085B33B4-BF99-7B03-572E-9273A6D407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00323" y="210114"/>
            <a:ext cx="605475" cy="365760"/>
          </a:xfrm>
        </p:spPr>
        <p:txBody>
          <a:bodyPr/>
          <a:lstStyle/>
          <a:p>
            <a:pPr>
              <a:spcAft>
                <a:spcPts val="600"/>
              </a:spcAft>
            </a:pPr>
            <a:fld id="{5E0677F5-4A8A-4BF1-96BE-3BAE8FBAFE2E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SECTU</a:t>
            </a:r>
          </a:p>
          <a:p>
            <a:r>
              <a:rPr lang="en-US"/>
              <a:t>Daniel Fajardo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993B-81B1-7295-6056-F97F5DCF1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dependency?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6EAEED-CFD8-FA3B-6AF3-8C3BD1A6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94E8-8381-422A-9E37-C4E852F3B998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1E1ECC-0546-C4C4-3E90-8BA771BBC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4882A-C658-4FED-89D9-700464E2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2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B80EB5-1554-E690-C21E-4050C3809C4F}"/>
              </a:ext>
            </a:extLst>
          </p:cNvPr>
          <p:cNvSpPr/>
          <p:nvPr/>
        </p:nvSpPr>
        <p:spPr>
          <a:xfrm>
            <a:off x="3629891" y="3657601"/>
            <a:ext cx="4932217" cy="11222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System &amp; 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06071-74D3-D40A-8530-351A4FBB3EB9}"/>
              </a:ext>
            </a:extLst>
          </p:cNvPr>
          <p:cNvSpPr/>
          <p:nvPr/>
        </p:nvSpPr>
        <p:spPr>
          <a:xfrm>
            <a:off x="3629891" y="4970318"/>
            <a:ext cx="4932217" cy="112221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Hardware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288510-7632-44B2-975C-945FE06BE0B3}"/>
              </a:ext>
            </a:extLst>
          </p:cNvPr>
          <p:cNvSpPr/>
          <p:nvPr/>
        </p:nvSpPr>
        <p:spPr>
          <a:xfrm>
            <a:off x="3629891" y="2306780"/>
            <a:ext cx="4932217" cy="112221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Runtime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36959D-301D-B074-FE0B-C197CE759CEA}"/>
              </a:ext>
            </a:extLst>
          </p:cNvPr>
          <p:cNvSpPr txBox="1"/>
          <p:nvPr/>
        </p:nvSpPr>
        <p:spPr>
          <a:xfrm>
            <a:off x="1032164" y="5070763"/>
            <a:ext cx="252152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CPU architecture, specialized computing hardware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258885-E43F-1F36-ED89-6572CF54BDAB}"/>
              </a:ext>
            </a:extLst>
          </p:cNvPr>
          <p:cNvSpPr txBox="1"/>
          <p:nvPr/>
        </p:nvSpPr>
        <p:spPr>
          <a:xfrm>
            <a:off x="1032163" y="2265219"/>
            <a:ext cx="252152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Third-party libraries, configuration, environment variables, etc.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60B2EB-81D8-6A8A-DAB2-0A02F5259566}"/>
              </a:ext>
            </a:extLst>
          </p:cNvPr>
          <p:cNvSpPr txBox="1"/>
          <p:nvPr/>
        </p:nvSpPr>
        <p:spPr>
          <a:xfrm>
            <a:off x="8811489" y="3622964"/>
            <a:ext cx="279169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OS kernel, system libraries (</a:t>
            </a:r>
            <a:r>
              <a:rPr lang="en-US" err="1"/>
              <a:t>glibc</a:t>
            </a:r>
            <a:r>
              <a:rPr lang="en-US"/>
              <a:t>, </a:t>
            </a:r>
            <a:r>
              <a:rPr lang="en-US" err="1"/>
              <a:t>libssl</a:t>
            </a:r>
            <a:r>
              <a:rPr lang="en-US"/>
              <a:t>, etc.), system utilities (time zones, certificates)</a:t>
            </a:r>
          </a:p>
        </p:txBody>
      </p:sp>
    </p:spTree>
    <p:extLst>
      <p:ext uri="{BB962C8B-B14F-4D97-AF65-F5344CB8AC3E}">
        <p14:creationId xmlns:p14="http://schemas.microsoft.com/office/powerpoint/2010/main" val="2471735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5F91-0654-45DB-78F6-A5A104DA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dependency iceberg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7FB86-A663-CA6F-B106-03F30503EE2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5EE0D2-2F12-4717-A216-7377E5ADB63E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C2819-4CD1-345F-6C18-DB8B41BECE1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237DD-5656-413A-7FA5-21549ACC7C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3</a:t>
            </a:fld>
            <a:endParaRPr lang="en-US"/>
          </a:p>
        </p:txBody>
      </p:sp>
      <p:pic>
        <p:nvPicPr>
          <p:cNvPr id="7" name="Content Placeholder 6" descr="12,400+ Iceberg Illustrations - iStock">
            <a:extLst>
              <a:ext uri="{FF2B5EF4-FFF2-40B4-BE49-F238E27FC236}">
                <a16:creationId xmlns:a16="http://schemas.microsoft.com/office/drawing/2014/main" id="{D02B0DC6-5B43-3772-055C-399325CF69F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662237" y="1962103"/>
            <a:ext cx="6788855" cy="4525903"/>
          </a:xfrm>
          <a:prstGeom prst="rect">
            <a:avLst/>
          </a:prstGeom>
        </p:spPr>
      </p:pic>
      <p:sp>
        <p:nvSpPr>
          <p:cNvPr id="8" name="Left Bracket 7">
            <a:extLst>
              <a:ext uri="{FF2B5EF4-FFF2-40B4-BE49-F238E27FC236}">
                <a16:creationId xmlns:a16="http://schemas.microsoft.com/office/drawing/2014/main" id="{53B238D8-0F9E-78B0-00CF-C4E3BCE481D8}"/>
              </a:ext>
            </a:extLst>
          </p:cNvPr>
          <p:cNvSpPr/>
          <p:nvPr/>
        </p:nvSpPr>
        <p:spPr>
          <a:xfrm>
            <a:off x="3298024" y="1994899"/>
            <a:ext cx="193183" cy="1577661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741F2CDB-7017-2360-E696-1D2BB3B6DDAF}"/>
              </a:ext>
            </a:extLst>
          </p:cNvPr>
          <p:cNvSpPr/>
          <p:nvPr/>
        </p:nvSpPr>
        <p:spPr>
          <a:xfrm>
            <a:off x="3298024" y="3650603"/>
            <a:ext cx="193183" cy="2828846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863FB2-D99D-E767-1F40-7838F0707B22}"/>
              </a:ext>
            </a:extLst>
          </p:cNvPr>
          <p:cNvSpPr txBox="1"/>
          <p:nvPr/>
        </p:nvSpPr>
        <p:spPr>
          <a:xfrm>
            <a:off x="831233" y="2458926"/>
            <a:ext cx="23951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the dependencies you think about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27B985-45AE-69FC-64E3-A344E39C665A}"/>
              </a:ext>
            </a:extLst>
          </p:cNvPr>
          <p:cNvSpPr txBox="1"/>
          <p:nvPr/>
        </p:nvSpPr>
        <p:spPr>
          <a:xfrm>
            <a:off x="1499159" y="4876630"/>
            <a:ext cx="17272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everything else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F0E2F2-7CBC-B28D-84C9-D9513AF5C9F4}"/>
              </a:ext>
            </a:extLst>
          </p:cNvPr>
          <p:cNvSpPr txBox="1"/>
          <p:nvPr/>
        </p:nvSpPr>
        <p:spPr>
          <a:xfrm>
            <a:off x="4366033" y="2975175"/>
            <a:ext cx="15014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package.json</a:t>
            </a:r>
            <a:endParaRPr lang="en-US" b="1" dirty="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DB6A39-A38D-DF4E-83EF-23759CF7D73F}"/>
              </a:ext>
            </a:extLst>
          </p:cNvPr>
          <p:cNvSpPr txBox="1"/>
          <p:nvPr/>
        </p:nvSpPr>
        <p:spPr>
          <a:xfrm>
            <a:off x="8307735" y="3163323"/>
            <a:ext cx="16049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pyproject.toml</a:t>
            </a:r>
            <a:endParaRPr lang="en-US" b="1" dirty="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2D1B4D-4D6E-B9FE-50E3-1AF7440D6D77}"/>
              </a:ext>
            </a:extLst>
          </p:cNvPr>
          <p:cNvSpPr txBox="1"/>
          <p:nvPr/>
        </p:nvSpPr>
        <p:spPr>
          <a:xfrm>
            <a:off x="6379217" y="1959175"/>
            <a:ext cx="11909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your code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D66224-01D4-8471-4601-B037242412C0}"/>
              </a:ext>
            </a:extLst>
          </p:cNvPr>
          <p:cNvSpPr txBox="1"/>
          <p:nvPr/>
        </p:nvSpPr>
        <p:spPr>
          <a:xfrm>
            <a:off x="4290774" y="2457768"/>
            <a:ext cx="2235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application libraries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BE6188-6514-C5FB-8065-9AA150643309}"/>
              </a:ext>
            </a:extLst>
          </p:cNvPr>
          <p:cNvSpPr txBox="1"/>
          <p:nvPr/>
        </p:nvSpPr>
        <p:spPr>
          <a:xfrm>
            <a:off x="7865588" y="2598879"/>
            <a:ext cx="8711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vite</a:t>
            </a:r>
            <a:endParaRPr lang="en-US" b="1" dirty="0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C3D59B-DF56-B37C-C102-9C43C43095AC}"/>
              </a:ext>
            </a:extLst>
          </p:cNvPr>
          <p:cNvSpPr txBox="1"/>
          <p:nvPr/>
        </p:nvSpPr>
        <p:spPr>
          <a:xfrm>
            <a:off x="3980330" y="3850064"/>
            <a:ext cx="200001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database drivers</a:t>
            </a:r>
          </a:p>
          <a:p>
            <a:r>
              <a:rPr lang="en-US" b="1" dirty="0"/>
              <a:t>(</a:t>
            </a:r>
            <a:r>
              <a:rPr lang="en-US" b="1" dirty="0" err="1"/>
              <a:t>pq</a:t>
            </a:r>
            <a:r>
              <a:rPr lang="en-US" b="1" dirty="0"/>
              <a:t>, sqlite3)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1AC6E3-A9CD-72E7-F598-5999FAFFCEB5}"/>
              </a:ext>
            </a:extLst>
          </p:cNvPr>
          <p:cNvSpPr txBox="1"/>
          <p:nvPr/>
        </p:nvSpPr>
        <p:spPr>
          <a:xfrm>
            <a:off x="8298329" y="3652508"/>
            <a:ext cx="20000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ffmpeg</a:t>
            </a:r>
            <a:endParaRPr lang="en-US" dirty="0" err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307CE8-8CC3-A72E-DCE9-0678B1D452D8}"/>
              </a:ext>
            </a:extLst>
          </p:cNvPr>
          <p:cNvSpPr txBox="1"/>
          <p:nvPr/>
        </p:nvSpPr>
        <p:spPr>
          <a:xfrm>
            <a:off x="4497739" y="4771990"/>
            <a:ext cx="16143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.env variables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8EE78D-4B7C-B12A-10B0-2A5830DED0D3}"/>
              </a:ext>
            </a:extLst>
          </p:cNvPr>
          <p:cNvSpPr txBox="1"/>
          <p:nvPr/>
        </p:nvSpPr>
        <p:spPr>
          <a:xfrm>
            <a:off x="8025516" y="4311026"/>
            <a:ext cx="22728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native libraries (SSL, crypto, compression)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33A70A-0486-0AEF-7DFC-1BA3C069540A}"/>
              </a:ext>
            </a:extLst>
          </p:cNvPr>
          <p:cNvSpPr txBox="1"/>
          <p:nvPr/>
        </p:nvSpPr>
        <p:spPr>
          <a:xfrm>
            <a:off x="7573961" y="5336435"/>
            <a:ext cx="21505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system certificates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F682F8-E2E3-ED61-A443-545ECA24EC59}"/>
              </a:ext>
            </a:extLst>
          </p:cNvPr>
          <p:cNvSpPr txBox="1"/>
          <p:nvPr/>
        </p:nvSpPr>
        <p:spPr>
          <a:xfrm>
            <a:off x="4149664" y="5637472"/>
            <a:ext cx="25080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host operating system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F12026-F547-0DC7-8843-EFD373364C0A}"/>
              </a:ext>
            </a:extLst>
          </p:cNvPr>
          <p:cNvSpPr txBox="1"/>
          <p:nvPr/>
        </p:nvSpPr>
        <p:spPr>
          <a:xfrm>
            <a:off x="5805368" y="6107842"/>
            <a:ext cx="25080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computer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098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CFE6-7387-5F6C-54F2-BC45C384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philosophy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3F15B-0E47-9C1F-EF99-236A20E6B0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A1711D5-28C8-403E-B5BC-32BB4E8D1870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B8AA8-73FE-E3ED-B6ED-F537E718301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05D003-506E-9B0B-786A-326A320A4D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DE7B46-659B-03E6-8666-9A41AF1922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21087"/>
            <a:ext cx="9370568" cy="43891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800" dirty="0"/>
              <a:t>Ship the </a:t>
            </a:r>
            <a:r>
              <a:rPr lang="en-US" sz="1800" i="1" dirty="0"/>
              <a:t>entire environment </a:t>
            </a:r>
            <a:r>
              <a:rPr lang="en-US" sz="1800" dirty="0"/>
              <a:t>for the application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/>
              <a:t>Application files/binaries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/>
              <a:t>System libraries and utilities</a:t>
            </a:r>
          </a:p>
          <a:p>
            <a:pPr marL="285750" indent="-285750">
              <a:buChar char="•"/>
            </a:pPr>
            <a:r>
              <a:rPr lang="en-US" sz="1800" dirty="0"/>
              <a:t>Treat dependencies as explicit and immutable</a:t>
            </a:r>
          </a:p>
          <a:p>
            <a:pPr marL="514350" lvl="1" indent="-285750">
              <a:buChar char="•"/>
            </a:pPr>
            <a:r>
              <a:rPr lang="en-US" sz="1800" dirty="0"/>
              <a:t>No dependency should be unknown</a:t>
            </a:r>
          </a:p>
          <a:p>
            <a:pPr marL="514350" lvl="1" indent="-285750">
              <a:buChar char="•"/>
            </a:pPr>
            <a:r>
              <a:rPr lang="en-US" sz="1800" dirty="0"/>
              <a:t>No dependency should change without us knowing</a:t>
            </a:r>
          </a:p>
          <a:p>
            <a:pPr marL="285750" indent="-285750">
              <a:buChar char="•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88912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1A938-3B13-5708-D5F7-2B57F5276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Machines vs. Containers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0E5E1-6E95-FBD6-6D2A-E67EFD9AA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DFBE4-A68C-46BA-A41D-49689C71BF10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EFF6AE-0015-85BF-A58C-A14847F97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8C728F-2270-E350-804B-2CF406A3C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AA28D3-2A55-1991-9DF2-7FC5CB9B7FDF}"/>
              </a:ext>
            </a:extLst>
          </p:cNvPr>
          <p:cNvSpPr/>
          <p:nvPr/>
        </p:nvSpPr>
        <p:spPr>
          <a:xfrm>
            <a:off x="1286163" y="5728872"/>
            <a:ext cx="4017818" cy="69180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Server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E8B1CB-1996-E89B-2BC4-8048580C4F51}"/>
              </a:ext>
            </a:extLst>
          </p:cNvPr>
          <p:cNvSpPr/>
          <p:nvPr/>
        </p:nvSpPr>
        <p:spPr>
          <a:xfrm>
            <a:off x="1286163" y="4425603"/>
            <a:ext cx="4017818" cy="691803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Hypervisor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ED0941-9278-CB1C-3941-1274E9D77217}"/>
              </a:ext>
            </a:extLst>
          </p:cNvPr>
          <p:cNvSpPr/>
          <p:nvPr/>
        </p:nvSpPr>
        <p:spPr>
          <a:xfrm>
            <a:off x="1286163" y="5116483"/>
            <a:ext cx="4017818" cy="69180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Host 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DF7CF-4CDC-8800-CDEB-2C27FFA6C7D1}"/>
              </a:ext>
            </a:extLst>
          </p:cNvPr>
          <p:cNvSpPr/>
          <p:nvPr/>
        </p:nvSpPr>
        <p:spPr>
          <a:xfrm>
            <a:off x="1286163" y="3215810"/>
            <a:ext cx="1813098" cy="122012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Guest 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66C013-D41D-0149-D28E-2842C74180C8}"/>
              </a:ext>
            </a:extLst>
          </p:cNvPr>
          <p:cNvSpPr/>
          <p:nvPr/>
        </p:nvSpPr>
        <p:spPr>
          <a:xfrm>
            <a:off x="3490883" y="3206403"/>
            <a:ext cx="1813098" cy="122012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Guest 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FF1661-A5C2-D687-B366-84DDC5FB911F}"/>
              </a:ext>
            </a:extLst>
          </p:cNvPr>
          <p:cNvSpPr/>
          <p:nvPr/>
        </p:nvSpPr>
        <p:spPr>
          <a:xfrm>
            <a:off x="1286163" y="2474883"/>
            <a:ext cx="1813098" cy="8137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Bins/Libs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228599-BF48-F42F-A7D5-3EA5344ADCFB}"/>
              </a:ext>
            </a:extLst>
          </p:cNvPr>
          <p:cNvSpPr/>
          <p:nvPr/>
        </p:nvSpPr>
        <p:spPr>
          <a:xfrm>
            <a:off x="3490883" y="2474883"/>
            <a:ext cx="1813098" cy="8137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Bins/Libs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3B2FEA-954A-5204-76CD-12C15AE02304}"/>
              </a:ext>
            </a:extLst>
          </p:cNvPr>
          <p:cNvSpPr/>
          <p:nvPr/>
        </p:nvSpPr>
        <p:spPr>
          <a:xfrm>
            <a:off x="1286163" y="1936403"/>
            <a:ext cx="1813098" cy="60036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Application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E6A7FD-D292-5B09-04C9-717B50474181}"/>
              </a:ext>
            </a:extLst>
          </p:cNvPr>
          <p:cNvSpPr/>
          <p:nvPr/>
        </p:nvSpPr>
        <p:spPr>
          <a:xfrm>
            <a:off x="3490883" y="1936403"/>
            <a:ext cx="1813098" cy="60036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Application</a:t>
            </a:r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5BCC4DF4-061F-7182-CA09-B11EBB4A0B0B}"/>
              </a:ext>
            </a:extLst>
          </p:cNvPr>
          <p:cNvSpPr/>
          <p:nvPr/>
        </p:nvSpPr>
        <p:spPr>
          <a:xfrm>
            <a:off x="1026752" y="1930027"/>
            <a:ext cx="156797" cy="2513503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434CC0-12BE-6984-6383-42F6B2CC362D}"/>
              </a:ext>
            </a:extLst>
          </p:cNvPr>
          <p:cNvSpPr txBox="1"/>
          <p:nvPr/>
        </p:nvSpPr>
        <p:spPr>
          <a:xfrm>
            <a:off x="297328" y="2924205"/>
            <a:ext cx="64008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VMs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3EB9FB-B9E6-82E5-8D97-6D704092B356}"/>
              </a:ext>
            </a:extLst>
          </p:cNvPr>
          <p:cNvSpPr/>
          <p:nvPr/>
        </p:nvSpPr>
        <p:spPr>
          <a:xfrm>
            <a:off x="7280563" y="5728872"/>
            <a:ext cx="4017818" cy="69180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Server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06C2C0-DDC9-2AEF-F7A1-366DF40AF1CB}"/>
              </a:ext>
            </a:extLst>
          </p:cNvPr>
          <p:cNvSpPr/>
          <p:nvPr/>
        </p:nvSpPr>
        <p:spPr>
          <a:xfrm>
            <a:off x="7280563" y="4425603"/>
            <a:ext cx="4017818" cy="691803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Container Engine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1EB4E4-92EF-C449-EACC-D03988D9A67D}"/>
              </a:ext>
            </a:extLst>
          </p:cNvPr>
          <p:cNvSpPr/>
          <p:nvPr/>
        </p:nvSpPr>
        <p:spPr>
          <a:xfrm>
            <a:off x="7280563" y="5116483"/>
            <a:ext cx="4017818" cy="69180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Host OS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E1499B-F42D-4EA0-6558-1C67D86B169A}"/>
              </a:ext>
            </a:extLst>
          </p:cNvPr>
          <p:cNvSpPr/>
          <p:nvPr/>
        </p:nvSpPr>
        <p:spPr>
          <a:xfrm>
            <a:off x="7280563" y="3612803"/>
            <a:ext cx="1142538" cy="8238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Bins/Libs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8683EF-B2F1-E6A4-C688-2792D9133CB7}"/>
              </a:ext>
            </a:extLst>
          </p:cNvPr>
          <p:cNvSpPr/>
          <p:nvPr/>
        </p:nvSpPr>
        <p:spPr>
          <a:xfrm>
            <a:off x="7280563" y="3013363"/>
            <a:ext cx="1142538" cy="60036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App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C71E8B5-2BEC-B595-59A7-E1CB978AA943}"/>
              </a:ext>
            </a:extLst>
          </p:cNvPr>
          <p:cNvSpPr/>
          <p:nvPr/>
        </p:nvSpPr>
        <p:spPr>
          <a:xfrm>
            <a:off x="10155843" y="3602643"/>
            <a:ext cx="1142538" cy="8238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Bins/Libs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CE0451-E711-C489-08D4-A9C07E26F5DB}"/>
              </a:ext>
            </a:extLst>
          </p:cNvPr>
          <p:cNvSpPr/>
          <p:nvPr/>
        </p:nvSpPr>
        <p:spPr>
          <a:xfrm>
            <a:off x="8713123" y="3602643"/>
            <a:ext cx="1142538" cy="8238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Bins/Libs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7D10D8-B0B8-7103-08BA-4A2D2F45317F}"/>
              </a:ext>
            </a:extLst>
          </p:cNvPr>
          <p:cNvSpPr/>
          <p:nvPr/>
        </p:nvSpPr>
        <p:spPr>
          <a:xfrm>
            <a:off x="8713123" y="3013363"/>
            <a:ext cx="1142538" cy="60036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App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DE5C05-5B8B-ED49-E7E3-7F5A27769BD8}"/>
              </a:ext>
            </a:extLst>
          </p:cNvPr>
          <p:cNvSpPr/>
          <p:nvPr/>
        </p:nvSpPr>
        <p:spPr>
          <a:xfrm>
            <a:off x="10155843" y="3013363"/>
            <a:ext cx="1142538" cy="60036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App</a:t>
            </a:r>
          </a:p>
        </p:txBody>
      </p:sp>
      <p:sp>
        <p:nvSpPr>
          <p:cNvPr id="34" name="Left Bracket 33">
            <a:extLst>
              <a:ext uri="{FF2B5EF4-FFF2-40B4-BE49-F238E27FC236}">
                <a16:creationId xmlns:a16="http://schemas.microsoft.com/office/drawing/2014/main" id="{B1AF44CB-474F-3289-CD7E-862304B640E3}"/>
              </a:ext>
            </a:extLst>
          </p:cNvPr>
          <p:cNvSpPr/>
          <p:nvPr/>
        </p:nvSpPr>
        <p:spPr>
          <a:xfrm>
            <a:off x="7051632" y="3006987"/>
            <a:ext cx="136477" cy="1426383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369340-CFA4-2E08-BF82-32A12477F496}"/>
              </a:ext>
            </a:extLst>
          </p:cNvPr>
          <p:cNvSpPr txBox="1"/>
          <p:nvPr/>
        </p:nvSpPr>
        <p:spPr>
          <a:xfrm>
            <a:off x="5793888" y="3533804"/>
            <a:ext cx="12598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Containers</a:t>
            </a:r>
          </a:p>
        </p:txBody>
      </p:sp>
    </p:spTree>
    <p:extLst>
      <p:ext uri="{BB962C8B-B14F-4D97-AF65-F5344CB8AC3E}">
        <p14:creationId xmlns:p14="http://schemas.microsoft.com/office/powerpoint/2010/main" val="2363905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9095D-0667-1614-BAEC-1517FBED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containers work – namespaces, </a:t>
            </a:r>
            <a:r>
              <a:rPr lang="en-US" err="1"/>
              <a:t>cgroups</a:t>
            </a:r>
            <a:r>
              <a:rPr lang="en-US"/>
              <a:t>, and </a:t>
            </a:r>
            <a:r>
              <a:rPr lang="en-US" err="1"/>
              <a:t>pivot_root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C5128D-A942-40E8-6AD2-673571CFAF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B0BE337-E836-4370-95DD-94998FDAAC0C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5BA54-BD0C-EC33-D679-D0AA3D91DF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A5F2E-452B-D735-87B0-CCBCE99286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48C93A-7C60-4FCA-57F4-2BDAF08615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47378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>
              <a:buChar char="•"/>
            </a:pPr>
            <a:r>
              <a:rPr lang="en-US" sz="1800" b="1" dirty="0" err="1"/>
              <a:t>cgroups</a:t>
            </a:r>
            <a:r>
              <a:rPr lang="en-US" sz="1800" b="1" dirty="0"/>
              <a:t> </a:t>
            </a:r>
            <a:r>
              <a:rPr lang="en-US" sz="1800" dirty="0"/>
              <a:t>– restraining system resources for a process</a:t>
            </a:r>
            <a:endParaRPr lang="en-US" sz="1800"/>
          </a:p>
          <a:p>
            <a:pPr marL="514350" lvl="1" indent="-285750"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CPU throttling</a:t>
            </a:r>
            <a:endParaRPr lang="en-US" sz="1800">
              <a:solidFill>
                <a:srgbClr val="FFFFFF"/>
              </a:solidFill>
            </a:endParaRPr>
          </a:p>
          <a:p>
            <a:pPr marL="514350" lvl="1" indent="-285750"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Memory limits</a:t>
            </a:r>
            <a:endParaRPr lang="en-US" sz="1800">
              <a:solidFill>
                <a:srgbClr val="FFFFFF"/>
              </a:solidFill>
            </a:endParaRPr>
          </a:p>
          <a:p>
            <a:pPr marL="285750" indent="-285750"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namespaces </a:t>
            </a:r>
            <a:r>
              <a:rPr lang="en-US" sz="1800" dirty="0"/>
              <a:t>– what your process can see</a:t>
            </a:r>
            <a:endParaRPr lang="en-US" sz="1800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MNT – filesystem mount points</a:t>
            </a:r>
            <a:endParaRPr lang="en-US" sz="1800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PID – process counter &amp; tree (hierarchical)</a:t>
            </a:r>
            <a:endParaRPr lang="en-US" sz="1800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NET – what networks are available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pivot_root</a:t>
            </a:r>
            <a:r>
              <a:rPr lang="en-US" sz="1800" dirty="0"/>
              <a:t> – change a process's filesystem root</a:t>
            </a:r>
            <a:endParaRPr lang="en-US" sz="1800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Prevents container from seeing/interacting with host</a:t>
            </a:r>
            <a:endParaRPr lang="en-US" sz="1800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/>
              <a:t>Applies to the MNT namespace of the process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sz="1800"/>
              <a:t>chroot applies only to the current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F49C41-4C59-4C3F-3279-3CF30B25B1B8}"/>
              </a:ext>
            </a:extLst>
          </p:cNvPr>
          <p:cNvSpPr/>
          <p:nvPr/>
        </p:nvSpPr>
        <p:spPr>
          <a:xfrm>
            <a:off x="6383450" y="2157390"/>
            <a:ext cx="5116945" cy="359469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B14EB2-01F4-A135-3E58-C3E37D3DB433}"/>
              </a:ext>
            </a:extLst>
          </p:cNvPr>
          <p:cNvSpPr/>
          <p:nvPr/>
        </p:nvSpPr>
        <p:spPr>
          <a:xfrm>
            <a:off x="6667929" y="2319950"/>
            <a:ext cx="2322945" cy="1643972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84569C-2F72-7A4F-6232-C678009D3D6E}"/>
              </a:ext>
            </a:extLst>
          </p:cNvPr>
          <p:cNvSpPr/>
          <p:nvPr/>
        </p:nvSpPr>
        <p:spPr>
          <a:xfrm>
            <a:off x="9218088" y="2319950"/>
            <a:ext cx="2079105" cy="1643972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C57956-7312-2834-B0E8-FE0B20CF9C20}"/>
              </a:ext>
            </a:extLst>
          </p:cNvPr>
          <p:cNvSpPr txBox="1"/>
          <p:nvPr/>
        </p:nvSpPr>
        <p:spPr>
          <a:xfrm>
            <a:off x="8120835" y="5390990"/>
            <a:ext cx="20523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PID 1 Namespace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7F014C-7B0D-FA20-150A-1BBAC59E2655}"/>
              </a:ext>
            </a:extLst>
          </p:cNvPr>
          <p:cNvSpPr/>
          <p:nvPr/>
        </p:nvSpPr>
        <p:spPr>
          <a:xfrm>
            <a:off x="6962568" y="4992030"/>
            <a:ext cx="1296785" cy="39429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MNT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B41EE9-C239-982C-703E-5DCC389F1842}"/>
              </a:ext>
            </a:extLst>
          </p:cNvPr>
          <p:cNvSpPr/>
          <p:nvPr/>
        </p:nvSpPr>
        <p:spPr>
          <a:xfrm>
            <a:off x="8496728" y="4992030"/>
            <a:ext cx="1296785" cy="39429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PID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AD5A4F-C148-D016-826F-BD66101BE6D1}"/>
              </a:ext>
            </a:extLst>
          </p:cNvPr>
          <p:cNvSpPr/>
          <p:nvPr/>
        </p:nvSpPr>
        <p:spPr>
          <a:xfrm>
            <a:off x="10000408" y="4992030"/>
            <a:ext cx="1296785" cy="39429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66FD2-616B-27C3-565B-9557F270FC60}"/>
              </a:ext>
            </a:extLst>
          </p:cNvPr>
          <p:cNvSpPr txBox="1"/>
          <p:nvPr/>
        </p:nvSpPr>
        <p:spPr>
          <a:xfrm>
            <a:off x="7287714" y="3602829"/>
            <a:ext cx="10871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PID 2 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E37865-79CE-149E-9AB6-024AEAAD949A}"/>
              </a:ext>
            </a:extLst>
          </p:cNvPr>
          <p:cNvSpPr/>
          <p:nvPr/>
        </p:nvSpPr>
        <p:spPr>
          <a:xfrm>
            <a:off x="7501048" y="3254670"/>
            <a:ext cx="666865" cy="35365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PID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8EAF97-FCDA-E980-916A-C61217F21CC5}"/>
              </a:ext>
            </a:extLst>
          </p:cNvPr>
          <p:cNvSpPr/>
          <p:nvPr/>
        </p:nvSpPr>
        <p:spPr>
          <a:xfrm>
            <a:off x="6728888" y="3254670"/>
            <a:ext cx="666865" cy="35365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MNT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17ADD1-DF35-03D7-C91D-0398C8500343}"/>
              </a:ext>
            </a:extLst>
          </p:cNvPr>
          <p:cNvSpPr/>
          <p:nvPr/>
        </p:nvSpPr>
        <p:spPr>
          <a:xfrm>
            <a:off x="8263048" y="3254670"/>
            <a:ext cx="666865" cy="35365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NET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FA35D8-8B55-7B21-95D8-86DAEA2B680F}"/>
              </a:ext>
            </a:extLst>
          </p:cNvPr>
          <p:cNvSpPr txBox="1"/>
          <p:nvPr/>
        </p:nvSpPr>
        <p:spPr>
          <a:xfrm>
            <a:off x="9299394" y="3592668"/>
            <a:ext cx="20015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PID 3 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6099D1-CAB8-3631-44B4-1FAEB27CD1F3}"/>
              </a:ext>
            </a:extLst>
          </p:cNvPr>
          <p:cNvSpPr/>
          <p:nvPr/>
        </p:nvSpPr>
        <p:spPr>
          <a:xfrm>
            <a:off x="9329848" y="3254670"/>
            <a:ext cx="666865" cy="35365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MNT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B31E26-ED89-FF96-3E86-79FB991E87FD}"/>
              </a:ext>
            </a:extLst>
          </p:cNvPr>
          <p:cNvSpPr/>
          <p:nvPr/>
        </p:nvSpPr>
        <p:spPr>
          <a:xfrm>
            <a:off x="10081688" y="3254670"/>
            <a:ext cx="666865" cy="35365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PID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50366E2-A7B3-8978-AEAD-96FC583E0EFE}"/>
              </a:ext>
            </a:extLst>
          </p:cNvPr>
          <p:cNvCxnSpPr/>
          <p:nvPr/>
        </p:nvCxnSpPr>
        <p:spPr>
          <a:xfrm flipV="1">
            <a:off x="10806545" y="3542270"/>
            <a:ext cx="112334" cy="1333031"/>
          </a:xfrm>
          <a:prstGeom prst="straightConnector1">
            <a:avLst/>
          </a:prstGeom>
          <a:ln w="28575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F77B091-2245-F1A0-E717-047E45CDE011}"/>
              </a:ext>
            </a:extLst>
          </p:cNvPr>
          <p:cNvSpPr/>
          <p:nvPr/>
        </p:nvSpPr>
        <p:spPr>
          <a:xfrm>
            <a:off x="6972306" y="2467107"/>
            <a:ext cx="1715342" cy="62525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PID 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0032D45-FA51-7E6E-3BA3-D9D122AA5590}"/>
              </a:ext>
            </a:extLst>
          </p:cNvPr>
          <p:cNvSpPr/>
          <p:nvPr/>
        </p:nvSpPr>
        <p:spPr>
          <a:xfrm>
            <a:off x="9441185" y="2467106"/>
            <a:ext cx="1715342" cy="62525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PID 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7129E3-4AE0-ADF4-10D4-98D69742B85A}"/>
              </a:ext>
            </a:extLst>
          </p:cNvPr>
          <p:cNvSpPr/>
          <p:nvPr/>
        </p:nvSpPr>
        <p:spPr>
          <a:xfrm>
            <a:off x="6982465" y="4204466"/>
            <a:ext cx="1715342" cy="62525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PID 1</a:t>
            </a:r>
          </a:p>
        </p:txBody>
      </p:sp>
    </p:spTree>
    <p:extLst>
      <p:ext uri="{BB962C8B-B14F-4D97-AF65-F5344CB8AC3E}">
        <p14:creationId xmlns:p14="http://schemas.microsoft.com/office/powerpoint/2010/main" val="3774354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564D4-EA0E-ACF2-B1D6-F79E6063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99DD3-F519-92D2-EA24-33B6A0800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containers work – union file systems (UFS) and </a:t>
            </a:r>
            <a:r>
              <a:rPr lang="en-US" err="1"/>
              <a:t>OverlayFS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129158-05CB-2510-463E-9B717AFEAA0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B0BE337-E836-4370-95DD-94998FDAAC0C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9E85B-AECD-F5AD-2662-0434DA4D0F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05E97-0050-EA60-522E-AA8490B7E4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6BD944-CBF8-4A23-593D-2981FDB679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5804408" cy="2773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800"/>
              <a:t>Union file systems represent multiple "stacked" directories as a single file system</a:t>
            </a:r>
          </a:p>
          <a:p>
            <a:pPr marL="285750" indent="-285750">
              <a:buChar char="•"/>
            </a:pPr>
            <a:r>
              <a:rPr lang="en-US" sz="1800" err="1"/>
              <a:t>OverlayFS</a:t>
            </a:r>
            <a:r>
              <a:rPr lang="en-US" sz="1800"/>
              <a:t> is a Linux file system implementation for UFS</a:t>
            </a:r>
          </a:p>
          <a:p>
            <a:pPr marL="514350" lvl="1" indent="-285750">
              <a:buChar char="•"/>
            </a:pPr>
            <a:r>
              <a:rPr lang="en-US" sz="1800"/>
              <a:t>"lower-</a:t>
            </a:r>
            <a:r>
              <a:rPr lang="en-US" sz="1800" err="1"/>
              <a:t>dir</a:t>
            </a:r>
            <a:r>
              <a:rPr lang="en-US" sz="1800"/>
              <a:t>" - read only, bottom of stack</a:t>
            </a:r>
            <a:endParaRPr lang="en-US"/>
          </a:p>
          <a:p>
            <a:pPr marL="514350" lvl="1" indent="-285750">
              <a:buChar char="•"/>
            </a:pPr>
            <a:r>
              <a:rPr lang="en-US" sz="1800"/>
              <a:t>"upper-</a:t>
            </a:r>
            <a:r>
              <a:rPr lang="en-US" sz="1800" err="1"/>
              <a:t>dir</a:t>
            </a:r>
            <a:r>
              <a:rPr lang="en-US" sz="1800"/>
              <a:t>" - read-write 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/>
              <a:t>"merged" - view of </a:t>
            </a:r>
            <a:r>
              <a:rPr lang="en-US" sz="1800" err="1"/>
              <a:t>unioned</a:t>
            </a:r>
            <a:r>
              <a:rPr lang="en-US" sz="1800"/>
              <a:t> filesystem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568F7C-C0E5-F71B-04BF-580C0ED70A2A}"/>
              </a:ext>
            </a:extLst>
          </p:cNvPr>
          <p:cNvSpPr/>
          <p:nvPr/>
        </p:nvSpPr>
        <p:spPr>
          <a:xfrm>
            <a:off x="7616429" y="5089685"/>
            <a:ext cx="3818612" cy="600114"/>
          </a:xfrm>
          <a:prstGeom prst="rect">
            <a:avLst/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EA6E64-F6B4-C3B6-0F5A-3CE37588BAAA}"/>
              </a:ext>
            </a:extLst>
          </p:cNvPr>
          <p:cNvSpPr/>
          <p:nvPr/>
        </p:nvSpPr>
        <p:spPr>
          <a:xfrm>
            <a:off x="7616428" y="3586005"/>
            <a:ext cx="3818612" cy="600114"/>
          </a:xfrm>
          <a:prstGeom prst="rect">
            <a:avLst/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BF55F0-C015-DA48-F1A6-A2A62B6352A4}"/>
              </a:ext>
            </a:extLst>
          </p:cNvPr>
          <p:cNvSpPr/>
          <p:nvPr/>
        </p:nvSpPr>
        <p:spPr>
          <a:xfrm>
            <a:off x="8768130" y="3717386"/>
            <a:ext cx="464314" cy="3370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9C7ECC8-5606-3D77-CEFA-54F5E59DA28E}"/>
              </a:ext>
            </a:extLst>
          </p:cNvPr>
          <p:cNvSpPr/>
          <p:nvPr/>
        </p:nvSpPr>
        <p:spPr>
          <a:xfrm>
            <a:off x="7741969" y="5221066"/>
            <a:ext cx="464314" cy="3370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3B71CCC-7382-BAFE-7685-1B4DF901A155}"/>
              </a:ext>
            </a:extLst>
          </p:cNvPr>
          <p:cNvSpPr/>
          <p:nvPr/>
        </p:nvSpPr>
        <p:spPr>
          <a:xfrm>
            <a:off x="9855248" y="4459066"/>
            <a:ext cx="464314" cy="3370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C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33E7A77-D0EA-A329-6408-EB307249CF4C}"/>
              </a:ext>
            </a:extLst>
          </p:cNvPr>
          <p:cNvSpPr/>
          <p:nvPr/>
        </p:nvSpPr>
        <p:spPr>
          <a:xfrm>
            <a:off x="10850927" y="5221066"/>
            <a:ext cx="464314" cy="3370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CFAD8D-4315-5A91-817E-6D1601FF75F1}"/>
              </a:ext>
            </a:extLst>
          </p:cNvPr>
          <p:cNvSpPr/>
          <p:nvPr/>
        </p:nvSpPr>
        <p:spPr>
          <a:xfrm>
            <a:off x="7616428" y="2803685"/>
            <a:ext cx="3818612" cy="600114"/>
          </a:xfrm>
          <a:prstGeom prst="rect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784D01B-7E9B-4E9E-9199-C58DFCFEBE5F}"/>
              </a:ext>
            </a:extLst>
          </p:cNvPr>
          <p:cNvSpPr/>
          <p:nvPr/>
        </p:nvSpPr>
        <p:spPr>
          <a:xfrm>
            <a:off x="10850927" y="2924906"/>
            <a:ext cx="464314" cy="33700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67F2BA-1AE7-4C39-7188-F598F146A36C}"/>
              </a:ext>
            </a:extLst>
          </p:cNvPr>
          <p:cNvSpPr/>
          <p:nvPr/>
        </p:nvSpPr>
        <p:spPr>
          <a:xfrm>
            <a:off x="7616428" y="4348005"/>
            <a:ext cx="3818612" cy="579794"/>
          </a:xfrm>
          <a:prstGeom prst="rect">
            <a:avLst/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21CECAC-9899-AD30-56C0-F8D47DCFDA6F}"/>
              </a:ext>
            </a:extLst>
          </p:cNvPr>
          <p:cNvSpPr/>
          <p:nvPr/>
        </p:nvSpPr>
        <p:spPr>
          <a:xfrm>
            <a:off x="7616428" y="2021365"/>
            <a:ext cx="3818612" cy="600114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E265D8B-EEB9-FA55-A661-253866167B08}"/>
              </a:ext>
            </a:extLst>
          </p:cNvPr>
          <p:cNvSpPr/>
          <p:nvPr/>
        </p:nvSpPr>
        <p:spPr>
          <a:xfrm>
            <a:off x="8768129" y="4469226"/>
            <a:ext cx="464314" cy="3370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2E7C4E-6771-13E4-428D-2CD2E2EAAA77}"/>
              </a:ext>
            </a:extLst>
          </p:cNvPr>
          <p:cNvSpPr/>
          <p:nvPr/>
        </p:nvSpPr>
        <p:spPr>
          <a:xfrm>
            <a:off x="7741968" y="2152746"/>
            <a:ext cx="464314" cy="3370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A07465E-5010-EBE7-8C30-12EEA6BD93C8}"/>
              </a:ext>
            </a:extLst>
          </p:cNvPr>
          <p:cNvSpPr/>
          <p:nvPr/>
        </p:nvSpPr>
        <p:spPr>
          <a:xfrm>
            <a:off x="8768129" y="2152746"/>
            <a:ext cx="464314" cy="3370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8B69A94-9A18-B706-EE71-FA85F70B6F4E}"/>
              </a:ext>
            </a:extLst>
          </p:cNvPr>
          <p:cNvSpPr/>
          <p:nvPr/>
        </p:nvSpPr>
        <p:spPr>
          <a:xfrm>
            <a:off x="10850927" y="2152746"/>
            <a:ext cx="464314" cy="33700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D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0781A7A-46CF-16E1-6F66-BBC0ABE9074F}"/>
              </a:ext>
            </a:extLst>
          </p:cNvPr>
          <p:cNvCxnSpPr/>
          <p:nvPr/>
        </p:nvCxnSpPr>
        <p:spPr>
          <a:xfrm flipV="1">
            <a:off x="7975151" y="2539999"/>
            <a:ext cx="7696" cy="26435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A3C7D7C-9FDB-0D34-63CC-0FA8F88794F1}"/>
              </a:ext>
            </a:extLst>
          </p:cNvPr>
          <p:cNvCxnSpPr>
            <a:cxnSpLocks/>
          </p:cNvCxnSpPr>
          <p:nvPr/>
        </p:nvCxnSpPr>
        <p:spPr>
          <a:xfrm flipH="1" flipV="1">
            <a:off x="9009007" y="2539998"/>
            <a:ext cx="2464" cy="1180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71D59F4-F189-3E78-35B6-AD88B9DFAD5F}"/>
              </a:ext>
            </a:extLst>
          </p:cNvPr>
          <p:cNvSpPr/>
          <p:nvPr/>
        </p:nvSpPr>
        <p:spPr>
          <a:xfrm>
            <a:off x="9855247" y="2152746"/>
            <a:ext cx="464314" cy="3370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C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26B5BF5-441C-09C5-B021-8A68CDC6EECE}"/>
              </a:ext>
            </a:extLst>
          </p:cNvPr>
          <p:cNvCxnSpPr>
            <a:cxnSpLocks/>
          </p:cNvCxnSpPr>
          <p:nvPr/>
        </p:nvCxnSpPr>
        <p:spPr>
          <a:xfrm flipV="1">
            <a:off x="10108751" y="2570477"/>
            <a:ext cx="7696" cy="18511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FC40FDB-2119-3FA7-68DD-9BC75CCF04C5}"/>
              </a:ext>
            </a:extLst>
          </p:cNvPr>
          <p:cNvCxnSpPr>
            <a:cxnSpLocks/>
          </p:cNvCxnSpPr>
          <p:nvPr/>
        </p:nvCxnSpPr>
        <p:spPr>
          <a:xfrm>
            <a:off x="11084111" y="2572473"/>
            <a:ext cx="7696" cy="3434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Left Bracket 48">
            <a:extLst>
              <a:ext uri="{FF2B5EF4-FFF2-40B4-BE49-F238E27FC236}">
                <a16:creationId xmlns:a16="http://schemas.microsoft.com/office/drawing/2014/main" id="{A22F9373-DDA5-A703-7734-6CABF058C187}"/>
              </a:ext>
            </a:extLst>
          </p:cNvPr>
          <p:cNvSpPr/>
          <p:nvPr/>
        </p:nvSpPr>
        <p:spPr>
          <a:xfrm>
            <a:off x="7251394" y="3565984"/>
            <a:ext cx="127312" cy="2104393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eft Bracket 49">
            <a:extLst>
              <a:ext uri="{FF2B5EF4-FFF2-40B4-BE49-F238E27FC236}">
                <a16:creationId xmlns:a16="http://schemas.microsoft.com/office/drawing/2014/main" id="{E4D28F45-79F8-00D2-805F-15AF34F0631C}"/>
              </a:ext>
            </a:extLst>
          </p:cNvPr>
          <p:cNvSpPr/>
          <p:nvPr/>
        </p:nvSpPr>
        <p:spPr>
          <a:xfrm>
            <a:off x="7251393" y="2803984"/>
            <a:ext cx="137472" cy="580393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Left Bracket 50">
            <a:extLst>
              <a:ext uri="{FF2B5EF4-FFF2-40B4-BE49-F238E27FC236}">
                <a16:creationId xmlns:a16="http://schemas.microsoft.com/office/drawing/2014/main" id="{8258D363-0C86-2CC8-33BA-ACD1049CAEDF}"/>
              </a:ext>
            </a:extLst>
          </p:cNvPr>
          <p:cNvSpPr/>
          <p:nvPr/>
        </p:nvSpPr>
        <p:spPr>
          <a:xfrm>
            <a:off x="7251392" y="2031824"/>
            <a:ext cx="137472" cy="580393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A2E422-C501-8FCA-1DE8-BC1179BE844E}"/>
              </a:ext>
            </a:extLst>
          </p:cNvPr>
          <p:cNvSpPr txBox="1"/>
          <p:nvPr/>
        </p:nvSpPr>
        <p:spPr>
          <a:xfrm>
            <a:off x="6306114" y="2123340"/>
            <a:ext cx="9448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merged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E6AC36-7EE7-5079-3ECA-BF9E508124EC}"/>
              </a:ext>
            </a:extLst>
          </p:cNvPr>
          <p:cNvSpPr txBox="1"/>
          <p:nvPr/>
        </p:nvSpPr>
        <p:spPr>
          <a:xfrm>
            <a:off x="6468673" y="2895500"/>
            <a:ext cx="7823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upper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5F6D38-EEAD-65DD-C035-7745E6D0D06C}"/>
              </a:ext>
            </a:extLst>
          </p:cNvPr>
          <p:cNvSpPr txBox="1"/>
          <p:nvPr/>
        </p:nvSpPr>
        <p:spPr>
          <a:xfrm>
            <a:off x="6519472" y="4429660"/>
            <a:ext cx="7315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lower</a:t>
            </a:r>
          </a:p>
        </p:txBody>
      </p:sp>
    </p:spTree>
    <p:extLst>
      <p:ext uri="{BB962C8B-B14F-4D97-AF65-F5344CB8AC3E}">
        <p14:creationId xmlns:p14="http://schemas.microsoft.com/office/powerpoint/2010/main" val="3336029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02049-05C0-1E65-2DA7-75CA969C4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8AC18-549F-4B8C-89BD-D6453B21250B}" type="datetime1"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E20F56-4761-D777-E158-56C79A00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6639F-FE53-4FE1-E6C5-AAB74B841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A62E11-710D-1107-B179-0277A36DC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89" y="1464028"/>
            <a:ext cx="7013223" cy="393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125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736D2-2B52-CF25-1A72-53A4FC083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Docker?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9FFB7-4E0C-593C-FCEB-1F1C3CA39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76AC7-E854-4A9D-AF7D-C0923BB1E1E1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BFD9AE-365F-DDD4-40CA-3B630F86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DECDE4-2985-479B-30DE-9B5F0D9D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7158A9-7D22-7202-743F-230983E4D91E}"/>
              </a:ext>
            </a:extLst>
          </p:cNvPr>
          <p:cNvSpPr/>
          <p:nvPr/>
        </p:nvSpPr>
        <p:spPr>
          <a:xfrm>
            <a:off x="4628803" y="5502563"/>
            <a:ext cx="6974378" cy="69180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/>
              <a:t>Linux Kernel</a:t>
            </a:r>
            <a:r>
              <a:rPr lang="en-US"/>
              <a:t> (</a:t>
            </a:r>
            <a:r>
              <a:rPr lang="en-US" err="1"/>
              <a:t>cgroups</a:t>
            </a:r>
            <a:r>
              <a:rPr lang="en-US"/>
              <a:t>, namespaces, </a:t>
            </a:r>
            <a:r>
              <a:rPr lang="en-US" err="1"/>
              <a:t>OverlayFS</a:t>
            </a:r>
            <a:r>
              <a:rPr lang="en-US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E632FF-3CDB-8F3A-42FC-EABD15E7A71C}"/>
              </a:ext>
            </a:extLst>
          </p:cNvPr>
          <p:cNvSpPr/>
          <p:nvPr/>
        </p:nvSpPr>
        <p:spPr>
          <a:xfrm>
            <a:off x="4628803" y="3724563"/>
            <a:ext cx="6974378" cy="69180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/>
              <a:t>Docker Engine</a:t>
            </a:r>
            <a:r>
              <a:rPr lang="en-US"/>
              <a:t> (container runtime, daemon, image builder, registry)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0A6184-3233-2286-F889-D902DBCFDA66}"/>
              </a:ext>
            </a:extLst>
          </p:cNvPr>
          <p:cNvSpPr/>
          <p:nvPr/>
        </p:nvSpPr>
        <p:spPr>
          <a:xfrm>
            <a:off x="4628803" y="1946563"/>
            <a:ext cx="6974378" cy="69180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/>
              <a:t>Developer UX (CLI, Docker Desktop, Docker Compose)</a:t>
            </a:r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1ECFFF-7032-ACC3-951F-1B5E0D73CB95}"/>
              </a:ext>
            </a:extLst>
          </p:cNvPr>
          <p:cNvCxnSpPr/>
          <p:nvPr/>
        </p:nvCxnSpPr>
        <p:spPr>
          <a:xfrm flipH="1">
            <a:off x="7939762" y="2719039"/>
            <a:ext cx="1804" cy="8388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720853-D4AC-4097-9410-B4BEACCE9833}"/>
              </a:ext>
            </a:extLst>
          </p:cNvPr>
          <p:cNvCxnSpPr>
            <a:cxnSpLocks/>
          </p:cNvCxnSpPr>
          <p:nvPr/>
        </p:nvCxnSpPr>
        <p:spPr>
          <a:xfrm flipH="1">
            <a:off x="7946817" y="4539371"/>
            <a:ext cx="1805" cy="7823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A16AD99-A135-70E6-BD61-BE2CEA1C0A08}"/>
              </a:ext>
            </a:extLst>
          </p:cNvPr>
          <p:cNvSpPr txBox="1"/>
          <p:nvPr/>
        </p:nvSpPr>
        <p:spPr>
          <a:xfrm>
            <a:off x="8110525" y="29764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we need containers!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02BA57-42E9-BC8E-832D-C9F01BC835F7}"/>
              </a:ext>
            </a:extLst>
          </p:cNvPr>
          <p:cNvSpPr txBox="1"/>
          <p:nvPr/>
        </p:nvSpPr>
        <p:spPr>
          <a:xfrm>
            <a:off x="8110525" y="47544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let me make containers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94E371-E606-71F3-8B59-0BF860EEA152}"/>
              </a:ext>
            </a:extLst>
          </p:cNvPr>
          <p:cNvSpPr txBox="1"/>
          <p:nvPr/>
        </p:nvSpPr>
        <p:spPr>
          <a:xfrm>
            <a:off x="304030" y="3101877"/>
            <a:ext cx="318769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Docker provides an easy UI/UX for managing containers and the Linux primitives around them</a:t>
            </a:r>
          </a:p>
        </p:txBody>
      </p:sp>
      <p:pic>
        <p:nvPicPr>
          <p:cNvPr id="11" name="Picture 10" descr="Docker Logo, symbol, meaning, history, PNG, brand">
            <a:extLst>
              <a:ext uri="{FF2B5EF4-FFF2-40B4-BE49-F238E27FC236}">
                <a16:creationId xmlns:a16="http://schemas.microsoft.com/office/drawing/2014/main" id="{327B5BD6-5A5B-C0DA-3CF0-B8040D213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623" y="2713919"/>
            <a:ext cx="2256367" cy="12678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87CBA1-BF78-CB5D-50CB-31A959D7BFAB}"/>
              </a:ext>
            </a:extLst>
          </p:cNvPr>
          <p:cNvSpPr txBox="1"/>
          <p:nvPr/>
        </p:nvSpPr>
        <p:spPr>
          <a:xfrm>
            <a:off x="4629727" y="1580443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Developers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9CEE98-48DD-98C4-93D3-01F7A26AD2E8}"/>
              </a:ext>
            </a:extLst>
          </p:cNvPr>
          <p:cNvSpPr txBox="1"/>
          <p:nvPr/>
        </p:nvSpPr>
        <p:spPr>
          <a:xfrm>
            <a:off x="4622671" y="5136443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Host OS</a:t>
            </a:r>
          </a:p>
        </p:txBody>
      </p:sp>
    </p:spTree>
    <p:extLst>
      <p:ext uri="{BB962C8B-B14F-4D97-AF65-F5344CB8AC3E}">
        <p14:creationId xmlns:p14="http://schemas.microsoft.com/office/powerpoint/2010/main" val="1997329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DCDF-EA7D-E7CD-ECAC-9594362FC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Layers, Images, and Containers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775DE-704F-F257-0786-FF14D7DE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9F310-8BDF-45DA-9FE6-3CFEFE67E623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D623F-A5FD-5955-3161-E83A2AA86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A52A34-184F-3F8F-05E8-7D9657EB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A16165-89A7-8FB3-65B7-679D027A8FE3}"/>
              </a:ext>
            </a:extLst>
          </p:cNvPr>
          <p:cNvSpPr/>
          <p:nvPr/>
        </p:nvSpPr>
        <p:spPr>
          <a:xfrm>
            <a:off x="8103262" y="5005018"/>
            <a:ext cx="3818612" cy="600114"/>
          </a:xfrm>
          <a:prstGeom prst="rect">
            <a:avLst/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A67CF-CBF1-BADA-4321-263ECEC61CD8}"/>
              </a:ext>
            </a:extLst>
          </p:cNvPr>
          <p:cNvSpPr/>
          <p:nvPr/>
        </p:nvSpPr>
        <p:spPr>
          <a:xfrm>
            <a:off x="8103261" y="3501338"/>
            <a:ext cx="3818612" cy="600114"/>
          </a:xfrm>
          <a:prstGeom prst="rect">
            <a:avLst/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470F3A-5164-F575-DC3E-17A932E0FD18}"/>
              </a:ext>
            </a:extLst>
          </p:cNvPr>
          <p:cNvSpPr/>
          <p:nvPr/>
        </p:nvSpPr>
        <p:spPr>
          <a:xfrm>
            <a:off x="8228802" y="5136399"/>
            <a:ext cx="464314" cy="3370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071F765-E6A6-3841-C63A-EE7DE59C48B5}"/>
              </a:ext>
            </a:extLst>
          </p:cNvPr>
          <p:cNvSpPr/>
          <p:nvPr/>
        </p:nvSpPr>
        <p:spPr>
          <a:xfrm>
            <a:off x="10349137" y="3633566"/>
            <a:ext cx="464314" cy="3370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28CB75-8734-51A2-BA95-ABB817360768}"/>
              </a:ext>
            </a:extLst>
          </p:cNvPr>
          <p:cNvSpPr/>
          <p:nvPr/>
        </p:nvSpPr>
        <p:spPr>
          <a:xfrm>
            <a:off x="8103261" y="2719018"/>
            <a:ext cx="3818612" cy="600114"/>
          </a:xfrm>
          <a:prstGeom prst="rect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42D4CF2-259A-2E02-CE27-1E157CCA5C74}"/>
              </a:ext>
            </a:extLst>
          </p:cNvPr>
          <p:cNvSpPr/>
          <p:nvPr/>
        </p:nvSpPr>
        <p:spPr>
          <a:xfrm>
            <a:off x="11337760" y="2840239"/>
            <a:ext cx="464314" cy="33700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E1B886-C135-9F97-FD87-6873E92F79E5}"/>
              </a:ext>
            </a:extLst>
          </p:cNvPr>
          <p:cNvSpPr/>
          <p:nvPr/>
        </p:nvSpPr>
        <p:spPr>
          <a:xfrm>
            <a:off x="8103261" y="4263338"/>
            <a:ext cx="3818612" cy="579794"/>
          </a:xfrm>
          <a:prstGeom prst="rect">
            <a:avLst/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6B942A-12D0-31EC-3260-A5A1071D52E9}"/>
              </a:ext>
            </a:extLst>
          </p:cNvPr>
          <p:cNvSpPr/>
          <p:nvPr/>
        </p:nvSpPr>
        <p:spPr>
          <a:xfrm>
            <a:off x="8103261" y="1936698"/>
            <a:ext cx="3818612" cy="600114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E48FC8B-2B97-F3DA-0AE1-57CE94E23C36}"/>
              </a:ext>
            </a:extLst>
          </p:cNvPr>
          <p:cNvSpPr/>
          <p:nvPr/>
        </p:nvSpPr>
        <p:spPr>
          <a:xfrm>
            <a:off x="9254962" y="4384559"/>
            <a:ext cx="464314" cy="3370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3399835-34AA-5202-C94A-BF5667D72C8F}"/>
              </a:ext>
            </a:extLst>
          </p:cNvPr>
          <p:cNvSpPr/>
          <p:nvPr/>
        </p:nvSpPr>
        <p:spPr>
          <a:xfrm>
            <a:off x="8228801" y="2068079"/>
            <a:ext cx="464314" cy="3370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A2F06B3-8733-52A8-1D8A-65394C86353F}"/>
              </a:ext>
            </a:extLst>
          </p:cNvPr>
          <p:cNvSpPr/>
          <p:nvPr/>
        </p:nvSpPr>
        <p:spPr>
          <a:xfrm>
            <a:off x="9254962" y="2068079"/>
            <a:ext cx="464314" cy="3370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883AEBE-B210-59C6-866F-982F2D514D65}"/>
              </a:ext>
            </a:extLst>
          </p:cNvPr>
          <p:cNvSpPr/>
          <p:nvPr/>
        </p:nvSpPr>
        <p:spPr>
          <a:xfrm>
            <a:off x="11337760" y="2068079"/>
            <a:ext cx="464314" cy="33700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D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8BF936C-8DEC-CD82-EF02-45797F6B02FD}"/>
              </a:ext>
            </a:extLst>
          </p:cNvPr>
          <p:cNvCxnSpPr/>
          <p:nvPr/>
        </p:nvCxnSpPr>
        <p:spPr>
          <a:xfrm flipV="1">
            <a:off x="8461984" y="2455332"/>
            <a:ext cx="7696" cy="26435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61802DA-DF9D-30E9-D27C-63E265D5E3DC}"/>
              </a:ext>
            </a:extLst>
          </p:cNvPr>
          <p:cNvCxnSpPr>
            <a:cxnSpLocks/>
          </p:cNvCxnSpPr>
          <p:nvPr/>
        </p:nvCxnSpPr>
        <p:spPr>
          <a:xfrm flipV="1">
            <a:off x="9519470" y="2455331"/>
            <a:ext cx="4592" cy="18367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2FBB961-13AA-74E6-2D90-6A09F9813341}"/>
              </a:ext>
            </a:extLst>
          </p:cNvPr>
          <p:cNvSpPr/>
          <p:nvPr/>
        </p:nvSpPr>
        <p:spPr>
          <a:xfrm>
            <a:off x="10342080" y="2068079"/>
            <a:ext cx="464314" cy="3370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C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F3C3EA4-33D6-CE6D-203F-C9CE8383D2C4}"/>
              </a:ext>
            </a:extLst>
          </p:cNvPr>
          <p:cNvCxnSpPr>
            <a:cxnSpLocks/>
          </p:cNvCxnSpPr>
          <p:nvPr/>
        </p:nvCxnSpPr>
        <p:spPr>
          <a:xfrm flipV="1">
            <a:off x="10581473" y="2478755"/>
            <a:ext cx="7696" cy="10961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38CF1DF-9B34-E72C-C302-4EC09D6C8956}"/>
              </a:ext>
            </a:extLst>
          </p:cNvPr>
          <p:cNvCxnSpPr>
            <a:cxnSpLocks/>
          </p:cNvCxnSpPr>
          <p:nvPr/>
        </p:nvCxnSpPr>
        <p:spPr>
          <a:xfrm>
            <a:off x="11570944" y="2487806"/>
            <a:ext cx="7696" cy="3434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Left Bracket 48">
            <a:extLst>
              <a:ext uri="{FF2B5EF4-FFF2-40B4-BE49-F238E27FC236}">
                <a16:creationId xmlns:a16="http://schemas.microsoft.com/office/drawing/2014/main" id="{00ECE6BE-39C1-C709-81E9-A0375E6EBAF3}"/>
              </a:ext>
            </a:extLst>
          </p:cNvPr>
          <p:cNvSpPr/>
          <p:nvPr/>
        </p:nvSpPr>
        <p:spPr>
          <a:xfrm>
            <a:off x="7738225" y="1947157"/>
            <a:ext cx="137472" cy="580393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1D5E4E-B092-65A6-FF50-A0B6B7B7801C}"/>
              </a:ext>
            </a:extLst>
          </p:cNvPr>
          <p:cNvSpPr txBox="1"/>
          <p:nvPr/>
        </p:nvSpPr>
        <p:spPr>
          <a:xfrm>
            <a:off x="5508838" y="2038673"/>
            <a:ext cx="2363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container file system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FFB822-A7DC-7D0D-DCBA-F2F707F13704}"/>
              </a:ext>
            </a:extLst>
          </p:cNvPr>
          <p:cNvSpPr txBox="1"/>
          <p:nvPr/>
        </p:nvSpPr>
        <p:spPr>
          <a:xfrm>
            <a:off x="5959378" y="5118483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FROM </a:t>
            </a:r>
            <a:r>
              <a:rPr lang="en-US"/>
              <a:t>alpine:3.24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ABF8FE-C5EF-C452-AFB6-8C6ED5D4637A}"/>
              </a:ext>
            </a:extLst>
          </p:cNvPr>
          <p:cNvSpPr txBox="1"/>
          <p:nvPr/>
        </p:nvSpPr>
        <p:spPr>
          <a:xfrm>
            <a:off x="5959378" y="4384705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RUN </a:t>
            </a:r>
            <a:r>
              <a:rPr lang="en-US" err="1">
                <a:solidFill>
                  <a:srgbClr val="FFFFFF"/>
                </a:solidFill>
              </a:rPr>
              <a:t>npm</a:t>
            </a:r>
            <a:r>
              <a:rPr lang="en-US">
                <a:solidFill>
                  <a:srgbClr val="FFFFFF"/>
                </a:solidFill>
              </a:rPr>
              <a:t> install</a:t>
            </a:r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221F760-5D45-6094-6941-06B95EA3F433}"/>
              </a:ext>
            </a:extLst>
          </p:cNvPr>
          <p:cNvSpPr txBox="1"/>
          <p:nvPr/>
        </p:nvSpPr>
        <p:spPr>
          <a:xfrm>
            <a:off x="5959378" y="3636816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COPY </a:t>
            </a:r>
            <a:r>
              <a:rPr lang="en-US"/>
              <a:t>. /app</a:t>
            </a:r>
          </a:p>
        </p:txBody>
      </p:sp>
      <p:sp>
        <p:nvSpPr>
          <p:cNvPr id="59" name="Left Bracket 58">
            <a:extLst>
              <a:ext uri="{FF2B5EF4-FFF2-40B4-BE49-F238E27FC236}">
                <a16:creationId xmlns:a16="http://schemas.microsoft.com/office/drawing/2014/main" id="{A33EFAA5-1018-2FC7-5E91-18682E98639F}"/>
              </a:ext>
            </a:extLst>
          </p:cNvPr>
          <p:cNvSpPr/>
          <p:nvPr/>
        </p:nvSpPr>
        <p:spPr>
          <a:xfrm>
            <a:off x="7738225" y="2716212"/>
            <a:ext cx="137472" cy="580393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018D91-FAF4-4EB6-7D04-468BE0CB4ECC}"/>
              </a:ext>
            </a:extLst>
          </p:cNvPr>
          <p:cNvSpPr txBox="1"/>
          <p:nvPr/>
        </p:nvSpPr>
        <p:spPr>
          <a:xfrm>
            <a:off x="5981560" y="2807728"/>
            <a:ext cx="18903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container writes</a:t>
            </a:r>
          </a:p>
        </p:txBody>
      </p:sp>
      <p:sp>
        <p:nvSpPr>
          <p:cNvPr id="61" name="Left Bracket 60">
            <a:extLst>
              <a:ext uri="{FF2B5EF4-FFF2-40B4-BE49-F238E27FC236}">
                <a16:creationId xmlns:a16="http://schemas.microsoft.com/office/drawing/2014/main" id="{B11D5E4E-8A76-5DBC-68E9-283EF8F3A4A1}"/>
              </a:ext>
            </a:extLst>
          </p:cNvPr>
          <p:cNvSpPr/>
          <p:nvPr/>
        </p:nvSpPr>
        <p:spPr>
          <a:xfrm>
            <a:off x="5793893" y="3568186"/>
            <a:ext cx="184727" cy="2062787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6B8F24-A866-5B3A-FFC4-CEB54F17DE20}"/>
              </a:ext>
            </a:extLst>
          </p:cNvPr>
          <p:cNvSpPr txBox="1"/>
          <p:nvPr/>
        </p:nvSpPr>
        <p:spPr>
          <a:xfrm>
            <a:off x="4598670" y="4388174"/>
            <a:ext cx="119182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read-only "image"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19EA90-C1A8-5037-B948-D9B7A1EDBC7B}"/>
              </a:ext>
            </a:extLst>
          </p:cNvPr>
          <p:cNvSpPr txBox="1"/>
          <p:nvPr/>
        </p:nvSpPr>
        <p:spPr>
          <a:xfrm>
            <a:off x="407939" y="2035207"/>
            <a:ext cx="4253087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/>
              <a:t>"</a:t>
            </a:r>
            <a:r>
              <a:rPr lang="en-US" sz="2400" b="1"/>
              <a:t>Layer</a:t>
            </a:r>
            <a:r>
              <a:rPr lang="en-US" sz="2400"/>
              <a:t>" = change in filesystem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"</a:t>
            </a:r>
            <a:r>
              <a:rPr lang="en-US" sz="2400" b="1"/>
              <a:t>Image</a:t>
            </a:r>
            <a:r>
              <a:rPr lang="en-US" sz="2400"/>
              <a:t>" = stack of read-only layers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Docker represents the process of adding new layers using a </a:t>
            </a:r>
            <a:r>
              <a:rPr lang="en-US" sz="2400" err="1">
                <a:solidFill>
                  <a:schemeClr val="accent1">
                    <a:lumMod val="76000"/>
                  </a:schemeClr>
                </a:solidFill>
              </a:rPr>
              <a:t>Dockerfile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44165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C65B-8F2A-EE5D-7383-4BE9C7A2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</a:t>
            </a:r>
            <a:r>
              <a:rPr lang="en-US" err="1"/>
              <a:t>Dockerfile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7EC91-712D-01FC-1DB9-B61EE856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7DFF1-C330-4BFD-AB7A-CC4B43D11578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5EC5FB-1C03-D426-5A5F-9E54787FF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AB80F-213C-50F5-EB17-BD26879D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BFBCAD-3B2E-3FBB-8F6B-CBD4C152F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941" y="1079500"/>
            <a:ext cx="4464118" cy="52634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7896A2-F165-FBE4-7C2A-7AE3CB4F0A71}"/>
              </a:ext>
            </a:extLst>
          </p:cNvPr>
          <p:cNvSpPr txBox="1"/>
          <p:nvPr/>
        </p:nvSpPr>
        <p:spPr>
          <a:xfrm>
            <a:off x="657448" y="1968500"/>
            <a:ext cx="48880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/>
              <a:t>oven/bun</a:t>
            </a:r>
            <a:r>
              <a:rPr lang="en-US"/>
              <a:t> is called the "base image"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DAD166-EE15-8E08-AFCA-FE7D4E07D171}"/>
              </a:ext>
            </a:extLst>
          </p:cNvPr>
          <p:cNvSpPr txBox="1"/>
          <p:nvPr/>
        </p:nvSpPr>
        <p:spPr>
          <a:xfrm>
            <a:off x="7847059" y="2335389"/>
            <a:ext cx="419664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Unchanged layers can be cached; good practice to treat package dependencies separately, since they change less than our code does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8227EE-7072-49CE-88CE-CDEFB5AB06E8}"/>
              </a:ext>
            </a:extLst>
          </p:cNvPr>
          <p:cNvSpPr txBox="1"/>
          <p:nvPr/>
        </p:nvSpPr>
        <p:spPr>
          <a:xfrm>
            <a:off x="227058" y="3711222"/>
            <a:ext cx="428130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Multiple bases -&gt; "multi-stage" build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Only the </a:t>
            </a:r>
            <a:r>
              <a:rPr lang="en-US" i="1"/>
              <a:t>final </a:t>
            </a:r>
            <a:r>
              <a:rPr lang="en-US"/>
              <a:t>stage is distributed for deployments, meaning you can make very small image sizes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9EB50-242B-64A8-1697-E387DB105A49}"/>
              </a:ext>
            </a:extLst>
          </p:cNvPr>
          <p:cNvSpPr txBox="1"/>
          <p:nvPr/>
        </p:nvSpPr>
        <p:spPr>
          <a:xfrm>
            <a:off x="7847058" y="4586111"/>
            <a:ext cx="42813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"EXPOSE" is just for documentation, so ops teams know which port to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0D312B-D13A-3720-A130-671CDF308E0B}"/>
              </a:ext>
            </a:extLst>
          </p:cNvPr>
          <p:cNvSpPr txBox="1"/>
          <p:nvPr/>
        </p:nvSpPr>
        <p:spPr>
          <a:xfrm>
            <a:off x="3952391" y="5912555"/>
            <a:ext cx="42813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"CMD" specifies the default arguments for the container's process</a:t>
            </a:r>
          </a:p>
        </p:txBody>
      </p:sp>
    </p:spTree>
    <p:extLst>
      <p:ext uri="{BB962C8B-B14F-4D97-AF65-F5344CB8AC3E}">
        <p14:creationId xmlns:p14="http://schemas.microsoft.com/office/powerpoint/2010/main" val="2067759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463ED-F15D-3909-1BB4-F105324EB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Demo: Containerize a Go backend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9F80FA-D7E7-22B8-4BC7-22D71E92F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A9FF3-C111-493B-9CE8-A629DDD3DF36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16207-76BF-41C3-E03C-695CD543C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465B5-2F1E-67BE-2EBD-E4887700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86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05051-5437-59CC-FBB2-8DBAF179B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if my application has multiple services?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FB928-8535-ADAD-F12F-F8456F2784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09BF972-C4A3-4228-86D6-EA12A2F36E7B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D29E6-5E6C-F80A-016A-1324D5D1B7A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0E763-AAC6-97CC-7EE8-305D26B6754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90732F-0380-F77D-E2F0-D593EAC8BC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800"/>
              <a:t>Multi-service dependencies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/>
              <a:t>Databases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/>
              <a:t>Producer-consumer models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/>
              <a:t>Message Queues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/>
              <a:t>Caches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Tedious to manage all of this using Docker Desktop or Docker CLI</a:t>
            </a:r>
          </a:p>
        </p:txBody>
      </p:sp>
    </p:spTree>
    <p:extLst>
      <p:ext uri="{BB962C8B-B14F-4D97-AF65-F5344CB8AC3E}">
        <p14:creationId xmlns:p14="http://schemas.microsoft.com/office/powerpoint/2010/main" val="806811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249BD-8DA0-2D1A-C1D1-C3433C5C4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Docker Compose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C09814-5882-4B2A-267E-2E5C1FE451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CF1A640-6B93-4728-9743-36287DA3EFA8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1707A0-F905-91B4-FD45-F7D35035C8F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3D2FD-E2E5-622D-1123-F3BEE1AFD9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3E1C21-4BCA-C941-5949-090F96CE1D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800"/>
              <a:t>Declarative YAML configuration for many services</a:t>
            </a:r>
          </a:p>
          <a:p>
            <a:pPr marL="285750" indent="-285750">
              <a:buChar char="•"/>
            </a:pPr>
            <a:r>
              <a:rPr lang="en-US" sz="1800"/>
              <a:t>Automatic hostname resolution (service "db" can now be connected to at host "db")</a:t>
            </a:r>
          </a:p>
          <a:p>
            <a:pPr marL="285750" indent="-285750">
              <a:buChar char="•"/>
            </a:pPr>
            <a:r>
              <a:rPr lang="en-US" sz="1800"/>
              <a:t>Easy manage using Docker CLI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3F1E71-4AA5-D466-4ABE-CEE3A82E2B89}"/>
              </a:ext>
            </a:extLst>
          </p:cNvPr>
          <p:cNvSpPr/>
          <p:nvPr/>
        </p:nvSpPr>
        <p:spPr>
          <a:xfrm>
            <a:off x="7457722" y="4049888"/>
            <a:ext cx="1676016" cy="50543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frontend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89740E-7601-4E05-69F1-0713186FAB81}"/>
              </a:ext>
            </a:extLst>
          </p:cNvPr>
          <p:cNvSpPr/>
          <p:nvPr/>
        </p:nvSpPr>
        <p:spPr>
          <a:xfrm>
            <a:off x="10025943" y="4557888"/>
            <a:ext cx="1676016" cy="50543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/>
              <a:t>db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86726D-2791-AF50-3A8F-7FFFDB6E0B5A}"/>
              </a:ext>
            </a:extLst>
          </p:cNvPr>
          <p:cNvSpPr/>
          <p:nvPr/>
        </p:nvSpPr>
        <p:spPr>
          <a:xfrm>
            <a:off x="7457722" y="5065888"/>
            <a:ext cx="1676016" cy="50543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backend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A1BE95-5D4E-33F0-4080-23A0B3834D45}"/>
              </a:ext>
            </a:extLst>
          </p:cNvPr>
          <p:cNvSpPr/>
          <p:nvPr/>
        </p:nvSpPr>
        <p:spPr>
          <a:xfrm>
            <a:off x="4889499" y="4557888"/>
            <a:ext cx="1676016" cy="50543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proxy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E33B5E5-55C0-0BA6-2D1F-4DD21ED6BCC8}"/>
              </a:ext>
            </a:extLst>
          </p:cNvPr>
          <p:cNvSpPr/>
          <p:nvPr/>
        </p:nvSpPr>
        <p:spPr>
          <a:xfrm>
            <a:off x="1540677" y="3470691"/>
            <a:ext cx="2145529" cy="2842106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81C2A1-D6DB-F410-B434-91E5B9FEEBDC}"/>
              </a:ext>
            </a:extLst>
          </p:cNvPr>
          <p:cNvSpPr txBox="1"/>
          <p:nvPr/>
        </p:nvSpPr>
        <p:spPr>
          <a:xfrm>
            <a:off x="1830596" y="3597692"/>
            <a:ext cx="155786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services:</a:t>
            </a:r>
          </a:p>
          <a:p>
            <a:r>
              <a:rPr lang="en-US"/>
              <a:t> </a:t>
            </a:r>
            <a:r>
              <a:rPr lang="en-US" err="1"/>
              <a:t>db</a:t>
            </a:r>
            <a:r>
              <a:rPr lang="en-US"/>
              <a:t>:</a:t>
            </a:r>
          </a:p>
          <a:p>
            <a:r>
              <a:rPr lang="en-US"/>
              <a:t>  ...</a:t>
            </a:r>
          </a:p>
          <a:p>
            <a:r>
              <a:rPr lang="en-US"/>
              <a:t> frontend:</a:t>
            </a:r>
          </a:p>
          <a:p>
            <a:r>
              <a:rPr lang="en-US"/>
              <a:t>  ...</a:t>
            </a:r>
          </a:p>
          <a:p>
            <a:r>
              <a:rPr lang="en-US"/>
              <a:t> backend:</a:t>
            </a:r>
          </a:p>
          <a:p>
            <a:r>
              <a:rPr lang="en-US"/>
              <a:t>  ...</a:t>
            </a:r>
          </a:p>
          <a:p>
            <a:r>
              <a:rPr lang="en-US"/>
              <a:t> proxy:</a:t>
            </a:r>
          </a:p>
          <a:p>
            <a:r>
              <a:rPr lang="en-US"/>
              <a:t>  ...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721728-4EC6-929D-2B2D-9C61583D87DD}"/>
              </a:ext>
            </a:extLst>
          </p:cNvPr>
          <p:cNvSpPr/>
          <p:nvPr/>
        </p:nvSpPr>
        <p:spPr>
          <a:xfrm>
            <a:off x="4610484" y="3504687"/>
            <a:ext cx="7283899" cy="2616968"/>
          </a:xfrm>
          <a:prstGeom prst="rect">
            <a:avLst/>
          </a:prstGeom>
          <a:solidFill>
            <a:schemeClr val="accent4">
              <a:lumMod val="50000"/>
            </a:schemeClr>
          </a:solidFill>
          <a:ln w="28575">
            <a:solidFill>
              <a:schemeClr val="bg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D69A15E-806A-EE90-C355-8FF4EF8A941F}"/>
              </a:ext>
            </a:extLst>
          </p:cNvPr>
          <p:cNvSpPr/>
          <p:nvPr/>
        </p:nvSpPr>
        <p:spPr>
          <a:xfrm>
            <a:off x="3815131" y="4711186"/>
            <a:ext cx="623454" cy="21551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9E3950-7F10-759D-FB14-445816212B82}"/>
              </a:ext>
            </a:extLst>
          </p:cNvPr>
          <p:cNvSpPr txBox="1"/>
          <p:nvPr/>
        </p:nvSpPr>
        <p:spPr>
          <a:xfrm>
            <a:off x="1500909" y="6239034"/>
            <a:ext cx="2221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docker-</a:t>
            </a:r>
            <a:r>
              <a:rPr lang="en-US" b="1" err="1"/>
              <a:t>compose.yml</a:t>
            </a:r>
            <a:endParaRPr lang="en-US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2CE1C-A5F3-1DF3-51B6-DD5D73456759}"/>
              </a:ext>
            </a:extLst>
          </p:cNvPr>
          <p:cNvSpPr txBox="1"/>
          <p:nvPr/>
        </p:nvSpPr>
        <p:spPr>
          <a:xfrm>
            <a:off x="7145353" y="6210812"/>
            <a:ext cx="2221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multi-container app</a:t>
            </a:r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AE8AE3-5723-4AE6-58D1-6257A909E478}"/>
              </a:ext>
            </a:extLst>
          </p:cNvPr>
          <p:cNvCxnSpPr/>
          <p:nvPr/>
        </p:nvCxnSpPr>
        <p:spPr>
          <a:xfrm flipV="1">
            <a:off x="6388485" y="4217938"/>
            <a:ext cx="862060" cy="2309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C93B60-E58A-FA63-DB86-283BB789E51D}"/>
              </a:ext>
            </a:extLst>
          </p:cNvPr>
          <p:cNvCxnSpPr/>
          <p:nvPr/>
        </p:nvCxnSpPr>
        <p:spPr>
          <a:xfrm>
            <a:off x="6342303" y="5210848"/>
            <a:ext cx="939030" cy="1847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4242767-50F4-F6EA-AB20-2D89A6216FC7}"/>
              </a:ext>
            </a:extLst>
          </p:cNvPr>
          <p:cNvCxnSpPr/>
          <p:nvPr/>
        </p:nvCxnSpPr>
        <p:spPr>
          <a:xfrm>
            <a:off x="8266545" y="4618182"/>
            <a:ext cx="30787" cy="3540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BA160C4-503A-34B3-2274-F366ABE40B34}"/>
              </a:ext>
            </a:extLst>
          </p:cNvPr>
          <p:cNvCxnSpPr/>
          <p:nvPr/>
        </p:nvCxnSpPr>
        <p:spPr>
          <a:xfrm flipV="1">
            <a:off x="9313333" y="5079999"/>
            <a:ext cx="615757" cy="2847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4329CDB-ABF0-24B3-C759-CFA1A92DE6DE}"/>
              </a:ext>
            </a:extLst>
          </p:cNvPr>
          <p:cNvSpPr txBox="1"/>
          <p:nvPr/>
        </p:nvSpPr>
        <p:spPr>
          <a:xfrm>
            <a:off x="4887575" y="3931867"/>
            <a:ext cx="22775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connect to "frontend"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FB30ED-C6A8-1D76-3669-5EEA4CF82540}"/>
              </a:ext>
            </a:extLst>
          </p:cNvPr>
          <p:cNvSpPr txBox="1"/>
          <p:nvPr/>
        </p:nvSpPr>
        <p:spPr>
          <a:xfrm>
            <a:off x="4887575" y="5385311"/>
            <a:ext cx="22775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connect to "backend"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76A43A-E1F9-EEE5-297A-700E803D53C1}"/>
              </a:ext>
            </a:extLst>
          </p:cNvPr>
          <p:cNvSpPr txBox="1"/>
          <p:nvPr/>
        </p:nvSpPr>
        <p:spPr>
          <a:xfrm>
            <a:off x="9424297" y="5385311"/>
            <a:ext cx="22775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connect to "</a:t>
            </a:r>
            <a:r>
              <a:rPr lang="en-US" err="1"/>
              <a:t>db</a:t>
            </a:r>
            <a:r>
              <a:rPr lang="en-US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452171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FBAA4-27B7-4B35-0704-008CD6019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Demo: Orchestrating a local app with Docker Compose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6E6C7-5F61-E27F-4099-9BE51D74B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21C-A84C-4758-89F1-F44AB1282FE8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750944-275B-A4B8-DD12-0E68DACB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8827E-AC42-98C7-DDA1-BD3ADB619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35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01CA-B42F-CBB9-259F-742565F63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C2588-AC48-51F5-2F35-3B1AF650D67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5C7D77E-F10B-4988-87A3-D7778907E971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A0BA2-52BC-21DF-0E7E-7103636F295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EC5B0-A56B-E383-644D-45AAB6D7323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58DCC-7992-DA7A-8688-CBFBAE418CC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800"/>
              <a:t>Dependencies come in many forms</a:t>
            </a:r>
          </a:p>
          <a:p>
            <a:pPr marL="285750" indent="-285750">
              <a:buChar char="•"/>
            </a:pPr>
            <a:r>
              <a:rPr lang="en-US" sz="1800"/>
              <a:t>Containers are just </a:t>
            </a:r>
            <a:r>
              <a:rPr lang="en-US" sz="1800" i="1"/>
              <a:t>isolated processes</a:t>
            </a:r>
          </a:p>
          <a:p>
            <a:pPr marL="514350" lvl="1" indent="-285750">
              <a:buChar char="•"/>
            </a:pPr>
            <a:r>
              <a:rPr lang="en-US" sz="1800"/>
              <a:t>Forces an app's dependencies to be </a:t>
            </a:r>
            <a:r>
              <a:rPr lang="en-US" sz="1800" i="1"/>
              <a:t>explicit</a:t>
            </a:r>
            <a:endParaRPr lang="en-US" sz="1800"/>
          </a:p>
          <a:p>
            <a:pPr marL="285750" indent="-285750">
              <a:buChar char="•"/>
            </a:pPr>
            <a:r>
              <a:rPr lang="en-US" sz="1800"/>
              <a:t>Docker is a UI/UX abstraction over container management for developers</a:t>
            </a:r>
          </a:p>
          <a:p>
            <a:pPr marL="285750" indent="-285750">
              <a:buChar char="•"/>
            </a:pPr>
            <a:r>
              <a:rPr lang="en-US" sz="1800"/>
              <a:t>Create an image using a Dockerfile</a:t>
            </a:r>
          </a:p>
          <a:p>
            <a:pPr marL="285750" indent="-285750">
              <a:buChar char="•"/>
            </a:pPr>
            <a:r>
              <a:rPr lang="en-US" sz="1800"/>
              <a:t>Orchestrate multi-service apps using Docker Compose</a:t>
            </a:r>
          </a:p>
        </p:txBody>
      </p:sp>
    </p:spTree>
    <p:extLst>
      <p:ext uri="{BB962C8B-B14F-4D97-AF65-F5344CB8AC3E}">
        <p14:creationId xmlns:p14="http://schemas.microsoft.com/office/powerpoint/2010/main" val="3142777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CEE5-0D53-72F9-CACE-42904DB3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Q/A &amp; Resources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2F7D3C-6CE4-2B7E-2A42-D55C918D0CC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2169D5-F6F2-429D-B139-353B22A51A5D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F2351-A1C0-3ED9-E10B-70E94ED4F2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82E6D-4F03-0FFE-35E4-6CF906B32A0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00113-343D-CB11-2838-F3188C4859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800"/>
              <a:t>Demos, slides on GitHub: </a:t>
            </a:r>
            <a:r>
              <a:rPr lang="en-US" sz="1800">
                <a:hlinkClick r:id="rId2"/>
              </a:rPr>
              <a:t>https://github.com/TU-Software/meetings/</a:t>
            </a:r>
            <a:endParaRPr lang="en-US" sz="180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Installing Docker on Windows: </a:t>
            </a:r>
            <a:r>
              <a:rPr lang="en-US" sz="1800">
                <a:ea typeface="+mn-lt"/>
                <a:cs typeface="+mn-lt"/>
                <a:hlinkClick r:id="rId3"/>
              </a:rPr>
              <a:t>https://docs.docker.com/desktop/setup/install/windows-install/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Installing Docker on MacOS: </a:t>
            </a:r>
            <a:r>
              <a:rPr lang="en-US" sz="1800">
                <a:ea typeface="+mn-lt"/>
                <a:cs typeface="+mn-lt"/>
                <a:hlinkClick r:id="rId4"/>
              </a:rPr>
              <a:t>https://docs.docker.com/desktop/setup/install/mac-install/</a:t>
            </a:r>
          </a:p>
          <a:p>
            <a:pPr marL="285750" indent="-285750">
              <a:buFont typeface="Calibri,Sans-Serif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Docker documentation: </a:t>
            </a:r>
            <a:r>
              <a:rPr lang="en-US" sz="1800">
                <a:ea typeface="+mn-lt"/>
                <a:cs typeface="+mn-lt"/>
                <a:hlinkClick r:id="rId5"/>
              </a:rPr>
              <a:t>https://docs.docker.com/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Docker Compose documentation: </a:t>
            </a:r>
            <a:r>
              <a:rPr lang="en-US" sz="1800">
                <a:ea typeface="+mn-lt"/>
                <a:cs typeface="+mn-lt"/>
                <a:hlinkClick r:id="rId6"/>
              </a:rPr>
              <a:t>https://docs.docker.com/compose/</a:t>
            </a:r>
            <a:endParaRPr lang="en-US" sz="18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3126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E37D-3639-1DD1-2E4D-C3C0A05A8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SECTU Links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127A1-F55E-0C58-0086-2CAB552B68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4835D9C-4CEC-4186-9ED2-BF436F22431F}" type="datetime1"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1DC48-7051-4311-EB71-5538059E631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F3A8C-94FF-90D1-87FA-0707B18714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AABECD-BF31-C5CA-A7DD-71A29BCA6A9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673225" y="1735455"/>
            <a:ext cx="3255645" cy="47285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1800" dirty="0">
                <a:hlinkClick r:id="rId2"/>
              </a:rPr>
              <a:t>Join the discord</a:t>
            </a:r>
            <a:endParaRPr lang="en-US" sz="18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0F4434-B26A-C18B-43CE-9BE3D32FB9B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170931" y="1735455"/>
            <a:ext cx="3406140" cy="52568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1800" dirty="0">
                <a:hlinkClick r:id="rId3"/>
              </a:rPr>
              <a:t>Membership Roster</a:t>
            </a:r>
            <a:endParaRPr lang="en-US" sz="1800"/>
          </a:p>
        </p:txBody>
      </p:sp>
      <p:pic>
        <p:nvPicPr>
          <p:cNvPr id="9" name="Graphic 8" descr="QR preview">
            <a:extLst>
              <a:ext uri="{FF2B5EF4-FFF2-40B4-BE49-F238E27FC236}">
                <a16:creationId xmlns:a16="http://schemas.microsoft.com/office/drawing/2014/main" id="{9EE0AF5E-92DF-1A45-74D2-40CB799EAF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5182" y="2233612"/>
            <a:ext cx="3399155" cy="4229735"/>
          </a:xfrm>
          <a:prstGeom prst="rect">
            <a:avLst/>
          </a:prstGeom>
        </p:spPr>
      </p:pic>
      <p:pic>
        <p:nvPicPr>
          <p:cNvPr id="10" name="Graphic 9" descr="QR preview">
            <a:extLst>
              <a:ext uri="{FF2B5EF4-FFF2-40B4-BE49-F238E27FC236}">
                <a16:creationId xmlns:a16="http://schemas.microsoft.com/office/drawing/2014/main" id="{B9E73E5A-4103-F153-E7C8-76FFC9ADCC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7342" y="2233612"/>
            <a:ext cx="3399155" cy="422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248627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Dark gradient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Dark gradien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6C0E157E-BBF9-45FB-91B2-9EEA263F6260}" vid="{4AA688F4-4384-4824-9BC0-914EFB7BEE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Dark gradient</vt:lpstr>
      <vt:lpstr>Intro to Containers &amp; Docker</vt:lpstr>
      <vt:lpstr>What is a dependency?</vt:lpstr>
      <vt:lpstr>The dependency iceberg</vt:lpstr>
      <vt:lpstr>Container philosophy</vt:lpstr>
      <vt:lpstr>Virtual Machines vs. Containers</vt:lpstr>
      <vt:lpstr>How containers work – namespaces, cgroups, and pivot_root</vt:lpstr>
      <vt:lpstr>How containers work – union file systems (UFS) and OverlayFS</vt:lpstr>
      <vt:lpstr>PowerPoint Presentation</vt:lpstr>
      <vt:lpstr>What is Docker?</vt:lpstr>
      <vt:lpstr>Layers, Images, and Containers</vt:lpstr>
      <vt:lpstr>Anatomy of a Dockerfile</vt:lpstr>
      <vt:lpstr>Demo: Containerize a Go backend</vt:lpstr>
      <vt:lpstr>What if my application has multiple services?</vt:lpstr>
      <vt:lpstr>Docker Compose</vt:lpstr>
      <vt:lpstr>Demo: Orchestrating a local app with Docker Compose</vt:lpstr>
      <vt:lpstr>Summary</vt:lpstr>
      <vt:lpstr>Q/A &amp; Resources</vt:lpstr>
      <vt:lpstr>SECTU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195</cp:revision>
  <dcterms:created xsi:type="dcterms:W3CDTF">2026-09-21T23:04:16Z</dcterms:created>
  <dcterms:modified xsi:type="dcterms:W3CDTF">2026-09-23T18:32:39Z</dcterms:modified>
</cp:coreProperties>
</file>